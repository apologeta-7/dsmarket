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822960"/>
            <a:ext cx="5120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822960"/>
            <a:ext cx="73152" cy="3474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960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DSMarket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de Demanda y Reposición de Stock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de Máster · Data Science &amp; 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Nuclio Digital School ·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337560"/>
            <a:ext cx="4754880" cy="640080"/>
          </a:xfrm>
          <a:prstGeom prst="rect">
            <a:avLst/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37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Torregrosa · Jesús Durán · Mateo Pascual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402336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716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Contexto y negocio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65376"/>
            <a:ext cx="2651760" cy="402336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8653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Exploración de datos (EDA)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359152"/>
            <a:ext cx="2651760" cy="402336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3591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Segmentación de productos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852928"/>
            <a:ext cx="2651760" cy="402336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8529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Forecasting de demanda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346704"/>
            <a:ext cx="2651760" cy="402336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3467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Reposición de stock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840480"/>
            <a:ext cx="2651760" cy="402336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8404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Pipeline y productivización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334256"/>
            <a:ext cx="2651760" cy="402336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3342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Contexto de Negocio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356616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 DSMarket?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447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 cadena de supermercados en EE.UU.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92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ciudades: Nueva York, Boston, Philadelphia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408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tiendas activas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52928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88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categorías: SUPERMARKET, HOME &amp; GARDEN, ACCESSORIES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00984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2369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temprana de transformación digital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6850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 de stock actual: manual y basada en reglas fijas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914400"/>
            <a:ext cx="4389120" cy="1645920"/>
          </a:xfrm>
          <a:prstGeom prst="rect">
            <a:avLst/>
          </a:prstGeom>
          <a:solidFill>
            <a:srgbClr val="FFF4E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Problema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1325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Roturas de stock en productos de alta demanda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Exceso de inventario en artículos lentos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Pérdida de ventas y coste de almacenamiento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2743200"/>
            <a:ext cx="4389120" cy="1737360"/>
          </a:xfrm>
          <a:prstGeom prst="rect">
            <a:avLst/>
          </a:prstGeom>
          <a:solidFill>
            <a:srgbClr val="EAF5E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Oportunidad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315468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reglas fijas por decisiones cuantitativas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basadas en forecasting de demanda y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explícito del riesgo operativo.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Exploración de Datos (EDA)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178308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Estacionalidad semanal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44475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baja los lunes, creciente hacia el fin de semana. Patrón estable y reconocible en todas las ciudades.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64008" cy="178308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 Heterogeneidad por ciudad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44475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claras en volumen y peso operativo entre Nueva York, Boston y Philadelphia.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64008" cy="178308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Precio como proxy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456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medio semanal sirve como indicador ejecutivo, pero no explica por sí solo la demanda a nivel agregado.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64008" cy="178308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Priorización riesgo × impacto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3456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ciudad × categoría para identificar combinaciones con mayor riesgo operativo e impacto económico.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Segmentación de Productos (K-Means, K=4)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EAF5E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volumen medio · volatilidad · tendencia · precio medio · estacionalidad  →  log1p + StandardScaler  →  K-Means K=4 (elbow + silhouette)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54480"/>
            <a:ext cx="2011680" cy="59436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Básicos de alto volumen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880360"/>
            <a:ext cx="91440" cy="91440"/>
          </a:xfrm>
          <a:prstGeom prst="ellipse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163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rotación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3264408"/>
            <a:ext cx="91440" cy="91440"/>
          </a:xfrm>
          <a:prstGeom prst="ellipse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volatilidad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3648456"/>
            <a:ext cx="91440" cy="91440"/>
          </a:xfrm>
          <a:prstGeom prst="ellipse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844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~$3.59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4032504"/>
            <a:ext cx="91440" cy="91440"/>
          </a:xfrm>
          <a:prstGeom prst="ellipse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684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estable del surtido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15544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1554480"/>
            <a:ext cx="201168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1554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68880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premium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33472" y="2880360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28163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alto ~$11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33472" y="3264408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rotación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33472" y="3648456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35844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 moderada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33472" y="4032504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39684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HOME &amp; GARDEN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5544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554480"/>
            <a:ext cx="2011680" cy="594360"/>
          </a:xfrm>
          <a:prstGeom prst="rect">
            <a:avLst/>
          </a:prstGeom>
          <a:solidFill>
            <a:srgbClr val="E08040"/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554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663440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Estacionales volátiles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28032" y="2880360"/>
            <a:ext cx="91440" cy="91440"/>
          </a:xfrm>
          <a:prstGeom prst="ellipse">
            <a:avLst/>
          </a:prstGeom>
          <a:solidFill>
            <a:srgbClr val="E08040"/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8163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variabilidad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28032" y="3264408"/>
            <a:ext cx="91440" cy="91440"/>
          </a:xfrm>
          <a:prstGeom prst="ellipse">
            <a:avLst/>
          </a:prstGeom>
          <a:solidFill>
            <a:srgbClr val="E08040"/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fuerte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28032" y="3648456"/>
            <a:ext cx="91440" cy="91440"/>
          </a:xfrm>
          <a:prstGeom prst="ellipse">
            <a:avLst/>
          </a:prstGeom>
          <a:solidFill>
            <a:srgbClr val="E08040"/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5844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+ H&amp;G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28032" y="4032504"/>
            <a:ext cx="91440" cy="91440"/>
          </a:xfrm>
          <a:prstGeom prst="ellipse">
            <a:avLst/>
          </a:prstGeom>
          <a:solidFill>
            <a:srgbClr val="E08040"/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9684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predictivo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0" y="15544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58000" y="1554480"/>
            <a:ext cx="2011680" cy="5943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1554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858000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rotación volátil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22592" y="2880360"/>
            <a:ext cx="91440" cy="9144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28163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rotación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22592" y="3264408"/>
            <a:ext cx="91440" cy="9144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040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volatilidad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22592" y="3648456"/>
            <a:ext cx="91440" cy="9144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78040" y="35844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mixto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22592" y="4032504"/>
            <a:ext cx="91440" cy="9144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39684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predecir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Forecasting de Demanda — 28 días (LightGBM)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FFF4E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(CFO): "¿Sigue siendo válido predecir a nivel tienda × producto y agregar después a niveles superiores?"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731520" cy="384048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002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1600200"/>
            <a:ext cx="1828800" cy="384048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00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600200"/>
            <a:ext cx="2926080" cy="384048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6002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600200"/>
            <a:ext cx="1828800" cy="384048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600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984248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842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E0a / E0b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198424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1984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(media hist. / media móvil)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1984248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19842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198424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984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mínima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86584"/>
            <a:ext cx="7315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38658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386584"/>
            <a:ext cx="18288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23865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2386584"/>
            <a:ext cx="29260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23865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+ rolling + calendario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2386584"/>
            <a:ext cx="18288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23865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vs baseline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788920"/>
            <a:ext cx="731520" cy="384048"/>
          </a:xfrm>
          <a:prstGeom prst="rect">
            <a:avLst/>
          </a:prstGeom>
          <a:solidFill>
            <a:srgbClr val="EA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7889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5840" y="2788920"/>
            <a:ext cx="1828800" cy="384048"/>
          </a:xfrm>
          <a:prstGeom prst="rect">
            <a:avLst/>
          </a:prstGeom>
          <a:solidFill>
            <a:srgbClr val="EA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2788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★ GANADOR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2788920"/>
            <a:ext cx="2926080" cy="384048"/>
          </a:xfrm>
          <a:prstGeom prst="rect">
            <a:avLst/>
          </a:prstGeom>
          <a:solidFill>
            <a:srgbClr val="EA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2788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+ precios + eventos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2788920"/>
            <a:ext cx="1828800" cy="384048"/>
          </a:xfrm>
          <a:prstGeom prst="rect">
            <a:avLst/>
          </a:prstGeom>
          <a:solidFill>
            <a:srgbClr val="EA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2788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técnico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191256"/>
            <a:ext cx="7315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1912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05840" y="3191256"/>
            <a:ext cx="18288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1560" y="31912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4640" y="3191256"/>
            <a:ext cx="29260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80360" y="31912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+ cluster producto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60720" y="3191256"/>
            <a:ext cx="18288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31912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mejora adicional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657600"/>
            <a:ext cx="3931920" cy="1234440"/>
          </a:xfrm>
          <a:prstGeom prst="rect">
            <a:avLst/>
          </a:prstGeom>
          <a:solidFill>
            <a:srgbClr val="EAF5EE"/>
          </a:solidFill>
          <a:ln w="12700">
            <a:solidFill>
              <a:srgbClr val="2D8C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657600"/>
            <a:ext cx="64008" cy="123444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detectado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8912" y="4069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muestra infra-predicción sistemática: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calibración antes de usar en reposición.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80560" y="3657600"/>
            <a:ext cx="4389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8C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480560" y="3657600"/>
            <a:ext cx="64008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Solución: E2 Calibrado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645152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corrector global ×1.3657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rotura de stock en producción.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Sistema de Reposición Inteligente de Stock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 = max( 0,  Demanda_calibrada_7d  +  Safety_stock  −  Stock_disponible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83080"/>
            <a:ext cx="2743200" cy="50292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Demanda calibrada 7d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predicciones diarias E2 × factor 1.3657.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estimación operativa de ventas para la próxima semana.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783080"/>
            <a:ext cx="2743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Safety Stock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35915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× σ_error × √L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Ajustable por nivel de servicio: 90% · 95% · 99%.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Anclado en el error histórico real del modelo.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83080"/>
            <a:ext cx="2743200" cy="50292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Stock disponible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35915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utilizable en tienda al lanzar la orden.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Descuenta el stock ya existente del pedido necesario.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EAF5E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servicio objetivo:   90%  →  menor inventario, mayor eficiencia   |   95%  →  equilibrio   |   99%  →  para productos críticos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Pipeline Modular y Productivización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280160" cy="100584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 / ERP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1371600"/>
            <a:ext cx="164592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1005840"/>
            <a:ext cx="1280160" cy="100584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9072" y="10058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19072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preprocessing.py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99232" y="1371600"/>
            <a:ext cx="164592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1005840"/>
            <a:ext cx="1280160" cy="1005840"/>
          </a:xfrm>
          <a:prstGeom prst="rect">
            <a:avLst/>
          </a:prstGeom>
          <a:solidFill>
            <a:srgbClr val="1E7840"/>
          </a:solidFill>
          <a:ln w="12700">
            <a:solidFill>
              <a:srgbClr val="1E78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63824" y="10058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E2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63824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forecasting_utils.py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43984" y="1371600"/>
            <a:ext cx="164592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1005840"/>
            <a:ext cx="1280160" cy="100584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08576" y="10058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×1.3657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08576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88736" y="1371600"/>
            <a:ext cx="164592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1005840"/>
            <a:ext cx="1280160" cy="100584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53328" y="10058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53328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replenishment.py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33488" y="1371600"/>
            <a:ext cx="164592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005840"/>
            <a:ext cx="128016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10058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1691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 (FastAPI)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2331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técnicas identificadas (hoja de ruta)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8346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834640"/>
            <a:ext cx="64008" cy="960120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 Alta prioridad — Calibración por categoría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318211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×1.82 · HOME&amp;GARDEN ×1.51 · SUPERMARKET ×1.27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relación impacto / esfuerzo. Recomendada antes del primer piloto.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8346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834640"/>
            <a:ext cx="64008" cy="960120"/>
          </a:xfrm>
          <a:prstGeom prst="rect">
            <a:avLst/>
          </a:prstGeom>
          <a:solidFill>
            <a:srgbClr val="1E7840"/>
          </a:solidFill>
          <a:ln w="12700">
            <a:solidFill>
              <a:srgbClr val="1E78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— Objetivo Tweedie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73752" y="318211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 de registros con ventas = 0.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Tweedie para modelar zero-inflation correctamente.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9319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931920"/>
            <a:ext cx="64008" cy="96012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 — Identidad de serie como feature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" y="427939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store_code · category · city como variables.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sesgo por segmento.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9319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931920"/>
            <a:ext cx="64008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— Intervalos de predicción (quantile)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73752" y="427939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· Q50 · Q90 para distintos niveles de cobertura.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reposición flexible por criticidad.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D8C4E"/>
          </a:solidFill>
          <a:ln w="12700">
            <a:solidFill>
              <a:srgbClr val="2D8C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4023360" cy="1737360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548640" cy="1737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548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61288" y="1024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válido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" y="148132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a nivel tienda × producto × día y agregar a niveles superiores produce resultados coherentes y defendibles para negocio.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23360" cy="1737360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548640" cy="1737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14400"/>
            <a:ext cx="548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58968" y="1024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operativo: E2 Calibrado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48132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con exógenas + factor corrector ×1.3657 es la solución más robusta para reducir roturas de stock.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4023360" cy="1737360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926080"/>
            <a:ext cx="548640" cy="1737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26080"/>
            <a:ext cx="548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61288" y="3035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 basada en datos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" y="34930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propuesta separa predicción y decisión, y permite ajustar el nivel de servicio según criticidad del producto.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023360" cy="1737360"/>
          </a:xfrm>
          <a:prstGeom prst="rect">
            <a:avLst/>
          </a:prstGeom>
          <a:solidFill>
            <a:srgbClr val="1E6B3A"/>
          </a:solidFill>
          <a:ln w="12700">
            <a:solidFill>
              <a:srgbClr val="2A8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26080"/>
            <a:ext cx="548640" cy="1737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26080"/>
            <a:ext cx="548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58968" y="3035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clara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34930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por categoría (E5) es la mejora prioritaria. Tweedie, identidad de serie e intervalos de predicción completan la evolución.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Torregrosa · Jesús Durán · Mateo Pascual  |  Máster en Data Science &amp; AI · Nuclio Digital School ·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DSMarket TFM — Forecasting de Demanda</dc:title>
  <dc:subject>PptxGenJS Presentation</dc:subject>
  <dc:creator>Torregrosa · Durán · Pascual</dc:creator>
  <cp:lastModifiedBy>Torregrosa · Durán · Pascual</cp:lastModifiedBy>
  <cp:revision>1</cp:revision>
  <dcterms:created xsi:type="dcterms:W3CDTF">2026-03-23T19:08:02Z</dcterms:created>
  <dcterms:modified xsi:type="dcterms:W3CDTF">2026-03-23T19:08:02Z</dcterms:modified>
</cp:coreProperties>
</file>